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300" b="0" i="0" u="none" strike="noStrike" kern="1200" baseline="0">
                <a:solidFill>
                  <a:srgbClr val="12283F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2283F"/>
                </a:solidFill>
                <a:latin typeface="Calibri" panose="020F0502020204030204"/>
              </a:rPr>
              <a:t>Confidence Score Separation</a:t>
            </a:r>
            <a:endParaRPr sz="1300" b="0" i="0" u="none" strike="noStrike">
              <a:solidFill>
                <a:srgbClr val="12283F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Confidence Score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82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5C"/>
              </a:solidFill>
              <a:effectLst/>
            </c:spPr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200" b="0" i="0" u="none" strike="noStrike" kern="1200" baseline="0">
                    <a:solidFill>
                      <a:srgbClr val="22262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True Matches</c:v>
                </c:pt>
                <c:pt idx="1">
                  <c:v>False Matches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96.13</c:v>
                </c:pt>
                <c:pt idx="1">
                  <c:v>46.87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4234234-2b79-43e8-ab1d-99e63d9df85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sh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ASSET CUSTODY &amp; RECOVERY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EYE OF ODIN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recovery engine for the campus Lost &amp; Found Item Tracker — built to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recognize objects, not people.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PHASES 0 – 4  ·  PROTOTYPE REVIEW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65992" y="5720000"/>
            <a:ext cx="4500000" cy="7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anose="020F0502020204030204" pitchFamily="34" charset="0"/>
              </a:rPr>
              <a:t>TEAM 17</a:t>
            </a:r>
          </a:p>
          <a:p>
            <a:pPr marL="0" indent="0" algn="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</a:rPr>
              <a:t>Bandla Vinay 2520030437 · Hansika Reddy Gunapati 2520030237 · Teja Hasini 2520030048</a:t>
            </a:r>
          </a:p>
          <a:p>
            <a:pPr marL="0" indent="0" algn="r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</a:rPr>
              <a:t>Guide: Dr. S. Spandana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campus has one.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Ours remembers.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college eventually builds a lost-and-found tracker — a form, a spreadsheet, a bulletin board nobody checks. It solves nothing. Items sit in a drawer until someone happens to notice a match by chance.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asked a different question: what if the system itself could recognize a lost object the moment someone reports finding it? Not by watching people — by recognizing things, described and photographed the way a student would actually describe them to a friend.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52360" y="100584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5EFE6"/>
          </a:solidFill>
        </p:spPr>
      </p:sp>
      <p:sp>
        <p:nvSpPr>
          <p:cNvPr id="6" name="Shape 4"/>
          <p:cNvSpPr/>
          <p:nvPr/>
        </p:nvSpPr>
        <p:spPr>
          <a:xfrm>
            <a:off x="7680960" y="1261872"/>
            <a:ext cx="502920" cy="50292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7" name="Text 5"/>
          <p:cNvSpPr txBox="1"/>
          <p:nvPr/>
        </p:nvSpPr>
        <p:spPr>
          <a:xfrm>
            <a:off x="7680960" y="12618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1170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vanish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572768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 and spreadsheets nobody revisits.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52360" y="265176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5EFE6"/>
          </a:solidFill>
        </p:spPr>
      </p:sp>
      <p:sp>
        <p:nvSpPr>
          <p:cNvPr id="11" name="Shape 9"/>
          <p:cNvSpPr/>
          <p:nvPr/>
        </p:nvSpPr>
        <p:spPr>
          <a:xfrm>
            <a:off x="7680960" y="2907792"/>
            <a:ext cx="502920" cy="50292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12" name="Text 10"/>
          <p:cNvSpPr txBox="1"/>
          <p:nvPr/>
        </p:nvSpPr>
        <p:spPr>
          <a:xfrm>
            <a:off x="7680960" y="29077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8163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memory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218688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depends entirely on luck and timing.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429768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5EFE6"/>
          </a:solidFill>
        </p:spPr>
      </p:sp>
      <p:sp>
        <p:nvSpPr>
          <p:cNvPr id="16" name="Shape 14"/>
          <p:cNvSpPr/>
          <p:nvPr/>
        </p:nvSpPr>
        <p:spPr>
          <a:xfrm>
            <a:off x="7680960" y="4553712"/>
            <a:ext cx="502920" cy="50292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17" name="Text 15"/>
          <p:cNvSpPr txBox="1"/>
          <p:nvPr/>
        </p:nvSpPr>
        <p:spPr>
          <a:xfrm>
            <a:off x="7680960" y="45537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622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intelligence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864608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generic tracker looks and works the same.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sh_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3474720"/>
            <a:ext cx="3502152" cy="3383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Meet the engine behind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registry.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685800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Eye of Odin isn’t a separate app — it’s the intelligence layer quietly running underneath every report filed. Upload a photo and a few details, and the engine extracts a visual and textual fingerprint for that object, searchable against everything already reported.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inspiration came from fictional systems that correlate scattered data into an answer — minus the surveillance. We build for objects, not people: no faces, no tracking, no watching. Just a system that notices better than a bulletin board ever could.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Skeleton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94360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any intelligence, the registry needed a spine: a locked schema of ten fields, eight item categories, ten campus zones. A tested FastAPI backend handling reports and image uploads. A frontend shell simple enough to submit and browse. No shortcuts — every endpoint was verified against real data before a single line of AI code was written.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5EFE6"/>
          </a:solidFill>
        </p:spPr>
      </p:sp>
      <p:sp>
        <p:nvSpPr>
          <p:cNvPr id="6" name="Text 4"/>
          <p:cNvSpPr txBox="1"/>
          <p:nvPr/>
        </p:nvSpPr>
        <p:spPr>
          <a:xfrm>
            <a:off x="777240" y="45720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8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321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fields, locked taxonomy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44348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5EFE6"/>
          </a:solidFill>
        </p:spPr>
      </p:sp>
      <p:sp>
        <p:nvSpPr>
          <p:cNvPr id="10" name="Text 8"/>
          <p:cNvSpPr txBox="1"/>
          <p:nvPr/>
        </p:nvSpPr>
        <p:spPr>
          <a:xfrm>
            <a:off x="4526280" y="45720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8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5321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CRUD, tested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4348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5EFE6"/>
          </a:solidFill>
        </p:spPr>
      </p:sp>
      <p:sp>
        <p:nvSpPr>
          <p:cNvPr id="14" name="Text 12"/>
          <p:cNvSpPr txBox="1"/>
          <p:nvPr/>
        </p:nvSpPr>
        <p:spPr>
          <a:xfrm>
            <a:off x="8275320" y="45720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8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5166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553212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Submit, browse, filter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Teaching it to recognize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9436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uploaded photo becomes a 512-dimension embedding via CLIP — a numeric fingerprint of what the object looks like. A fusion formula blends that visual signal with category, color, and description matches into one confidence score.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against a labeled set of true and false matches, the formula separated real pairs from false ones by nearly fifty points.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903720" y="1691640"/>
          <a:ext cx="47091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96% vs. 47% gap is the whole product — the difference between a hunch and an answer.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THE REGISTRY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it actually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664208"/>
            <a:ext cx="6958584" cy="3505262"/>
          </a:xfrm>
          <a:prstGeom prst="roundRect">
            <a:avLst>
              <a:gd name="adj" fmla="val 2087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6903720" cy="3450398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6903720" cy="256032"/>
          </a:xfrm>
          <a:prstGeom prst="roundRect">
            <a:avLst>
              <a:gd name="adj" fmla="val 28571"/>
            </a:avLst>
          </a:prstGeom>
          <a:solidFill>
            <a:srgbClr val="EDEFF2"/>
          </a:solidFill>
        </p:spPr>
      </p:sp>
      <p:sp>
        <p:nvSpPr>
          <p:cNvPr id="7" name="Shape 5"/>
          <p:cNvSpPr/>
          <p:nvPr/>
        </p:nvSpPr>
        <p:spPr>
          <a:xfrm>
            <a:off x="548640" y="1819656"/>
            <a:ext cx="6903720" cy="128016"/>
          </a:xfrm>
          <a:prstGeom prst="rect">
            <a:avLst/>
          </a:prstGeom>
          <a:solidFill>
            <a:srgbClr val="EDEFF2"/>
          </a:solidFill>
        </p:spPr>
      </p:sp>
      <p:sp>
        <p:nvSpPr>
          <p:cNvPr id="8" name="Shape 6"/>
          <p:cNvSpPr/>
          <p:nvPr/>
        </p:nvSpPr>
        <p:spPr>
          <a:xfrm>
            <a:off x="658368" y="1778508"/>
            <a:ext cx="82296" cy="82296"/>
          </a:xfrm>
          <a:prstGeom prst="ellipse">
            <a:avLst/>
          </a:prstGeom>
          <a:solidFill>
            <a:srgbClr val="ED6A5E"/>
          </a:solidFill>
        </p:spPr>
      </p:sp>
      <p:sp>
        <p:nvSpPr>
          <p:cNvPr id="9" name="Shape 7"/>
          <p:cNvSpPr/>
          <p:nvPr/>
        </p:nvSpPr>
        <p:spPr>
          <a:xfrm>
            <a:off x="786384" y="1778508"/>
            <a:ext cx="82296" cy="82296"/>
          </a:xfrm>
          <a:prstGeom prst="ellipse">
            <a:avLst/>
          </a:prstGeom>
          <a:solidFill>
            <a:srgbClr val="F4BF4F"/>
          </a:solidFill>
        </p:spPr>
      </p:sp>
      <p:sp>
        <p:nvSpPr>
          <p:cNvPr id="10" name="Shape 8"/>
          <p:cNvSpPr/>
          <p:nvPr/>
        </p:nvSpPr>
        <p:spPr>
          <a:xfrm>
            <a:off x="914400" y="1778508"/>
            <a:ext cx="82296" cy="82296"/>
          </a:xfrm>
          <a:prstGeom prst="ellipse">
            <a:avLst/>
          </a:prstGeom>
          <a:solidFill>
            <a:srgbClr val="61C454"/>
          </a:solidFill>
        </p:spPr>
      </p:sp>
      <p:pic>
        <p:nvPicPr>
          <p:cNvPr id="11" name="Image 0" descr="shot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672"/>
            <a:ext cx="6903720" cy="319436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215190"/>
            <a:ext cx="6903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Overview — first impression, zero clutter.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36408" y="1664208"/>
            <a:ext cx="3300984" cy="4091129"/>
          </a:xfrm>
          <a:prstGeom prst="roundRect">
            <a:avLst>
              <a:gd name="adj" fmla="val 2216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7863840" y="1691640"/>
            <a:ext cx="3246120" cy="403626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16916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EDEFF2"/>
          </a:solidFill>
        </p:spPr>
      </p:sp>
      <p:sp>
        <p:nvSpPr>
          <p:cNvPr id="16" name="Shape 13"/>
          <p:cNvSpPr/>
          <p:nvPr/>
        </p:nvSpPr>
        <p:spPr>
          <a:xfrm>
            <a:off x="7863840" y="1819656"/>
            <a:ext cx="3246120" cy="128016"/>
          </a:xfrm>
          <a:prstGeom prst="rect">
            <a:avLst/>
          </a:prstGeom>
          <a:solidFill>
            <a:srgbClr val="EDEFF2"/>
          </a:solidFill>
        </p:spPr>
      </p:sp>
      <p:sp>
        <p:nvSpPr>
          <p:cNvPr id="17" name="Shape 14"/>
          <p:cNvSpPr/>
          <p:nvPr/>
        </p:nvSpPr>
        <p:spPr>
          <a:xfrm>
            <a:off x="7973568" y="1778508"/>
            <a:ext cx="82296" cy="82296"/>
          </a:xfrm>
          <a:prstGeom prst="ellipse">
            <a:avLst/>
          </a:prstGeom>
          <a:solidFill>
            <a:srgbClr val="ED6A5E"/>
          </a:solidFill>
        </p:spPr>
      </p:sp>
      <p:sp>
        <p:nvSpPr>
          <p:cNvPr id="18" name="Shape 15"/>
          <p:cNvSpPr/>
          <p:nvPr/>
        </p:nvSpPr>
        <p:spPr>
          <a:xfrm>
            <a:off x="8101584" y="1778508"/>
            <a:ext cx="82296" cy="82296"/>
          </a:xfrm>
          <a:prstGeom prst="ellipse">
            <a:avLst/>
          </a:prstGeom>
          <a:solidFill>
            <a:srgbClr val="F4BF4F"/>
          </a:solidFill>
        </p:spPr>
      </p:sp>
      <p:sp>
        <p:nvSpPr>
          <p:cNvPr id="19" name="Shape 16"/>
          <p:cNvSpPr/>
          <p:nvPr/>
        </p:nvSpPr>
        <p:spPr>
          <a:xfrm>
            <a:off x="8229600" y="1778508"/>
            <a:ext cx="82296" cy="82296"/>
          </a:xfrm>
          <a:prstGeom prst="ellipse">
            <a:avLst/>
          </a:prstGeom>
          <a:solidFill>
            <a:srgbClr val="61C454"/>
          </a:solidFill>
        </p:spPr>
      </p:sp>
      <p:pic>
        <p:nvPicPr>
          <p:cNvPr id="20" name="Image 1" descr="shot_repor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47672"/>
            <a:ext cx="3246120" cy="378023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836535" y="572770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Filing a report — every field the engine actually uses.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Making it feel alive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Polish isn’t decoration — it’s confidence. Reports now read “last seen at Library, Sep 14, 12:26 PM” instead of a raw timestamp. A consistency pass unified every card and badge into one visual language. And when a report crosses 80% confidence, the registry surfaces it before anyone goes looking — four items were already waiting the day this was tested.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1208" y="3950208"/>
            <a:ext cx="3346704" cy="2353256"/>
          </a:xfrm>
          <a:prstGeom prst="roundRect">
            <a:avLst>
              <a:gd name="adj" fmla="val 3109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48640" y="3977640"/>
            <a:ext cx="3291840" cy="2298392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977640"/>
            <a:ext cx="3291840" cy="256032"/>
          </a:xfrm>
          <a:prstGeom prst="roundRect">
            <a:avLst>
              <a:gd name="adj" fmla="val 28571"/>
            </a:avLst>
          </a:prstGeom>
          <a:solidFill>
            <a:srgbClr val="EDEFF2"/>
          </a:solidFill>
        </p:spPr>
      </p:sp>
      <p:sp>
        <p:nvSpPr>
          <p:cNvPr id="8" name="Shape 6"/>
          <p:cNvSpPr/>
          <p:nvPr/>
        </p:nvSpPr>
        <p:spPr>
          <a:xfrm>
            <a:off x="548640" y="4105656"/>
            <a:ext cx="3291840" cy="128016"/>
          </a:xfrm>
          <a:prstGeom prst="rect">
            <a:avLst/>
          </a:prstGeom>
          <a:solidFill>
            <a:srgbClr val="EDEFF2"/>
          </a:solidFill>
        </p:spPr>
      </p:sp>
      <p:sp>
        <p:nvSpPr>
          <p:cNvPr id="9" name="Shape 7"/>
          <p:cNvSpPr/>
          <p:nvPr/>
        </p:nvSpPr>
        <p:spPr>
          <a:xfrm>
            <a:off x="658368" y="4064508"/>
            <a:ext cx="82296" cy="82296"/>
          </a:xfrm>
          <a:prstGeom prst="ellipse">
            <a:avLst/>
          </a:prstGeom>
          <a:solidFill>
            <a:srgbClr val="ED6A5E"/>
          </a:solidFill>
        </p:spPr>
      </p:sp>
      <p:sp>
        <p:nvSpPr>
          <p:cNvPr id="10" name="Shape 8"/>
          <p:cNvSpPr/>
          <p:nvPr/>
        </p:nvSpPr>
        <p:spPr>
          <a:xfrm>
            <a:off x="786384" y="4064508"/>
            <a:ext cx="82296" cy="82296"/>
          </a:xfrm>
          <a:prstGeom prst="ellipse">
            <a:avLst/>
          </a:prstGeom>
          <a:solidFill>
            <a:srgbClr val="F4BF4F"/>
          </a:solidFill>
        </p:spPr>
      </p:sp>
      <p:sp>
        <p:nvSpPr>
          <p:cNvPr id="11" name="Shape 9"/>
          <p:cNvSpPr/>
          <p:nvPr/>
        </p:nvSpPr>
        <p:spPr>
          <a:xfrm>
            <a:off x="914400" y="4064508"/>
            <a:ext cx="82296" cy="82296"/>
          </a:xfrm>
          <a:prstGeom prst="ellipse">
            <a:avLst/>
          </a:prstGeom>
          <a:solidFill>
            <a:srgbClr val="61C454"/>
          </a:solidFill>
        </p:spPr>
      </p:sp>
      <p:pic>
        <p:nvPicPr>
          <p:cNvPr id="12" name="Image 0" descr="shot_recor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33672"/>
            <a:ext cx="3291840" cy="20423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634918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Registry Index — browsing lost and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 side by side.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6288" y="1481328"/>
            <a:ext cx="4809744" cy="2944519"/>
          </a:xfrm>
          <a:prstGeom prst="roundRect">
            <a:avLst>
              <a:gd name="adj" fmla="val 2484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6903720" y="1508760"/>
            <a:ext cx="4754880" cy="2889655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03720" y="1508760"/>
            <a:ext cx="4754880" cy="256032"/>
          </a:xfrm>
          <a:prstGeom prst="roundRect">
            <a:avLst>
              <a:gd name="adj" fmla="val 28571"/>
            </a:avLst>
          </a:prstGeom>
          <a:solidFill>
            <a:srgbClr val="EDEFF2"/>
          </a:solidFill>
        </p:spPr>
      </p:sp>
      <p:sp>
        <p:nvSpPr>
          <p:cNvPr id="17" name="Shape 14"/>
          <p:cNvSpPr/>
          <p:nvPr/>
        </p:nvSpPr>
        <p:spPr>
          <a:xfrm>
            <a:off x="6903720" y="1636776"/>
            <a:ext cx="4754880" cy="128016"/>
          </a:xfrm>
          <a:prstGeom prst="rect">
            <a:avLst/>
          </a:prstGeom>
          <a:solidFill>
            <a:srgbClr val="EDEFF2"/>
          </a:solidFill>
        </p:spPr>
      </p:sp>
      <p:sp>
        <p:nvSpPr>
          <p:cNvPr id="18" name="Shape 15"/>
          <p:cNvSpPr/>
          <p:nvPr/>
        </p:nvSpPr>
        <p:spPr>
          <a:xfrm>
            <a:off x="7013448" y="1595628"/>
            <a:ext cx="82296" cy="82296"/>
          </a:xfrm>
          <a:prstGeom prst="ellipse">
            <a:avLst/>
          </a:prstGeom>
          <a:solidFill>
            <a:srgbClr val="ED6A5E"/>
          </a:solidFill>
        </p:spPr>
      </p:sp>
      <p:sp>
        <p:nvSpPr>
          <p:cNvPr id="19" name="Shape 16"/>
          <p:cNvSpPr/>
          <p:nvPr/>
        </p:nvSpPr>
        <p:spPr>
          <a:xfrm>
            <a:off x="7141464" y="1595628"/>
            <a:ext cx="82296" cy="82296"/>
          </a:xfrm>
          <a:prstGeom prst="ellipse">
            <a:avLst/>
          </a:prstGeom>
          <a:solidFill>
            <a:srgbClr val="F4BF4F"/>
          </a:solidFill>
        </p:spPr>
      </p:sp>
      <p:sp>
        <p:nvSpPr>
          <p:cNvPr id="20" name="Shape 17"/>
          <p:cNvSpPr/>
          <p:nvPr/>
        </p:nvSpPr>
        <p:spPr>
          <a:xfrm>
            <a:off x="7269480" y="1595628"/>
            <a:ext cx="82296" cy="82296"/>
          </a:xfrm>
          <a:prstGeom prst="ellipse">
            <a:avLst/>
          </a:prstGeom>
          <a:solidFill>
            <a:srgbClr val="61C454"/>
          </a:solidFill>
        </p:spPr>
      </p:sp>
      <p:pic>
        <p:nvPicPr>
          <p:cNvPr id="21" name="Image 1" descr="shot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64792"/>
            <a:ext cx="4754880" cy="263362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03720" y="4453279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speaks first — high-confidence matches surfaced automatically.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sh_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-1371600" y="-1371600"/>
            <a:ext cx="3502152" cy="3383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we drew the line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594360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original inspiration flirted with camera-fed surveillance. We didn’t build that — and we’re not going to. What we built instead: a prototype pipeline of frame extraction, detection, tracking, and embedding, proven entirely on public datasets, never on real campus footage.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2283F"/>
          </a:solidFill>
        </p:spPr>
      </p:sp>
      <p:sp>
        <p:nvSpPr>
          <p:cNvPr id="7" name="Shape 4"/>
          <p:cNvSpPr/>
          <p:nvPr/>
        </p:nvSpPr>
        <p:spPr>
          <a:xfrm>
            <a:off x="868680" y="4526280"/>
            <a:ext cx="548640" cy="54864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8" name="Text 5"/>
          <p:cNvSpPr txBox="1"/>
          <p:nvPr/>
        </p:nvSpPr>
        <p:spPr>
          <a:xfrm>
            <a:off x="868680" y="4526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56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443484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institutional sign-off exists for real footage, and none should be assumed.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489204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this project ever approaches a university about camera access, it happens after this document — not instead of it.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Privacy by design, not</a:t>
            </a:r>
            <a:endParaRPr lang="en-US" sz="32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by afterthought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of this was bolted on after a demo. It exists because a system built to find objects should never quietly become a system that tracks people — and provable boundaries matter more than promised ones.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5EFE6"/>
          </a:solidFill>
        </p:spPr>
      </p:sp>
      <p:sp>
        <p:nvSpPr>
          <p:cNvPr id="6" name="Shape 4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▤</a:t>
            </a:r>
            <a:endParaRPr lang="en-US" sz="169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 Policy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What’s stored, and for how long.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411480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5EFE6"/>
          </a:solidFill>
        </p:spPr>
      </p:sp>
      <p:sp>
        <p:nvSpPr>
          <p:cNvPr id="11" name="Shape 9"/>
          <p:cNvSpPr/>
          <p:nvPr/>
        </p:nvSpPr>
        <p:spPr>
          <a:xfrm>
            <a:off x="4572000" y="4343400"/>
            <a:ext cx="594360" cy="5943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2" name="Text 10"/>
          <p:cNvSpPr txBox="1"/>
          <p:nvPr/>
        </p:nvSpPr>
        <p:spPr>
          <a:xfrm>
            <a:off x="4572000" y="43434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▣</a:t>
            </a:r>
            <a:endParaRPr lang="en-US" sz="169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029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53949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can see a full report, and when.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114800"/>
            <a:ext cx="3474720" cy="2057400"/>
          </a:xfrm>
          <a:prstGeom prst="roundRect">
            <a:avLst>
              <a:gd name="adj" fmla="val 4444"/>
            </a:avLst>
          </a:prstGeom>
          <a:solidFill>
            <a:srgbClr val="F5EFE6"/>
          </a:solidFill>
        </p:spPr>
      </p:sp>
      <p:sp>
        <p:nvSpPr>
          <p:cNvPr id="16" name="Shape 14"/>
          <p:cNvSpPr/>
          <p:nvPr/>
        </p:nvSpPr>
        <p:spPr>
          <a:xfrm>
            <a:off x="8321040" y="4343400"/>
            <a:ext cx="594360" cy="5943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7" name="Text 15"/>
          <p:cNvSpPr txBox="1"/>
          <p:nvPr/>
        </p:nvSpPr>
        <p:spPr>
          <a:xfrm>
            <a:off x="8321040" y="43434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☷</a:t>
            </a:r>
            <a:endParaRPr lang="en-US" sz="169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50292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Log Design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53949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sensitive action, traceable.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3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people, no idle hands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22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heaviest, most failure-prone work — matching accuracy and visual polish — stayed with the core builder, verified end-to-end with real precision numbers, not assumptions. Nobody waited on anybody. Nothing touched real surveillance data at any point.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Build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engine verified, dashboard polish, notifications.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520440"/>
            <a:ext cx="640080" cy="64008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12" name="Text 10"/>
          <p:cNvSpPr txBox="1"/>
          <p:nvPr/>
        </p:nvSpPr>
        <p:spPr>
          <a:xfrm>
            <a:off x="457200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 Prototype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7091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pipeline proven on public data — zero legal exposure.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246120"/>
            <a:ext cx="34747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520440"/>
            <a:ext cx="640080" cy="640080"/>
          </a:xfrm>
          <a:prstGeom prst="ellipse">
            <a:avLst/>
          </a:prstGeom>
          <a:solidFill>
            <a:srgbClr val="E8823C"/>
          </a:solidFill>
        </p:spPr>
      </p:sp>
      <p:sp>
        <p:nvSpPr>
          <p:cNvPr id="17" name="Text 15"/>
          <p:cNvSpPr txBox="1"/>
          <p:nvPr/>
        </p:nvSpPr>
        <p:spPr>
          <a:xfrm>
            <a:off x="832104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297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8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Ethics Docs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0916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Retention, access control, and audit logging — the work most teams skip.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sh_title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SEMESTER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91640"/>
            <a:ext cx="74980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Strip away the classroom deadline and the same matching engine still works — for lab equipment that walks off, library books, conference lost-and-founds, even insurance verification of where an item actually was.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7498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was never really about lost backpacks. It’s a provenance engine for physical objects — one that happens to start, quietly and ethically, with a campus that’s tired of a drawer nobody checks.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8064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EYE OF ODIN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4888</Words>
  <Application>WPS Presentation</Application>
  <PresentationFormat>On-screen Show (16:9)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Venkata Rama Vinay Bandla</cp:lastModifiedBy>
  <cp:revision>2</cp:revision>
  <dcterms:created xsi:type="dcterms:W3CDTF">2026-09-15T04:39:00Z</dcterms:created>
  <dcterms:modified xsi:type="dcterms:W3CDTF">2026-09-15T06:22:24Z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A675AB12C499498F81ACA518BCD197B8_12</vt:lpwstr>
  </property>
  <property fmtid="{D5CDD505-2E9C-101B-9397-08002B2CF9AE}" pid="3" name="KSOProductBuildVer">
    <vt:lpwstr>2057-12.2.0.23206</vt:lpwstr>
  </property>
</Properties>
</file>